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Gelasio" pitchFamily="34" charset="0"/>
      <p:regular r:id="rId17"/>
    </p:embeddedFont>
    <p:embeddedFont>
      <p:font typeface="Gelasio" pitchFamily="34" charset="-122"/>
      <p:regular r:id="rId18"/>
    </p:embeddedFont>
    <p:embeddedFont>
      <p:font typeface="Gelasio" pitchFamily="34" charset="-120"/>
      <p:regular r:id="rId19"/>
    </p:embeddedFont>
    <p:embeddedFont>
      <p:font typeface="Gelasio SemiBold" pitchFamily="34" charset="0"/>
      <p:bold r:id="rId20"/>
    </p:embeddedFont>
    <p:embeddedFont>
      <p:font typeface="Gelasio SemiBold" pitchFamily="34" charset="-122"/>
      <p:bold r:id="rId21"/>
    </p:embeddedFont>
    <p:embeddedFont>
      <p:font typeface="Gelasio SemiBold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0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47751"/>
            <a:ext cx="7280895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83321"/>
            <a:ext cx="8151763" cy="12124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Курсовой проект по МДК 05.02 "Разработка кода информационных систем"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Тема: </a:t>
            </a: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StudyShare — платформа для обмена учебными материалами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Выполнил: Засимов Артём   Группа: ИСиП24-01   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Красноярск, 2026</a:t>
            </a:r>
            <a:endParaRPr lang="en-US" sz="950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4079875"/>
            <a:ext cx="1965960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6005"/>
            <a:ext cx="3135957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Актуальность проекта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694111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Студенты и преподаватели часто испытывают трудности при поиске, хранении и обмене качественных учебных материалов. Отсутствие единой платформы приводит к фрагментации знаний: конспекты лежат в разных чатах, лабораторные теряются, а полезные файлы остаются недоступны. Это снижает эффективность учебного процесса и увеличивает затраты времени на поиск.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1597" y="2422847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84" y="2509689"/>
            <a:ext cx="155004" cy="123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1206" y="2429024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Единая база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1206" y="2697287"/>
            <a:ext cx="35332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Централизованное хранилище материалов с поиском по курсам и ключевым словам.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4943" y="2422847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30" y="2509689"/>
            <a:ext cx="155004" cy="1239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14553" y="2429024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Загрузка файлов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14553" y="2697287"/>
            <a:ext cx="3533329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Пользователи могут добавить свои материалы — конспекты, решения, примеры лабораторных.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11597" y="3336057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84" y="3422898"/>
            <a:ext cx="155004" cy="1239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1206" y="334223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Обратная связь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61206" y="3610496"/>
            <a:ext cx="35332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отзывов и рейтингов позволяет быстро оценивать полезность материалов.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64943" y="3336057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30" y="3422898"/>
            <a:ext cx="155004" cy="1239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14553" y="334223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114553" y="3610496"/>
            <a:ext cx="3533329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Адаптивный интерфейс обеспечивает доступ с ПК и мобильных устройств в любое время.</a:t>
            </a:r>
            <a:endParaRPr lang="en-US" sz="950" dirty="0"/>
          </a:p>
        </p:txBody>
      </p:sp>
      <p:pic>
        <p:nvPicPr>
          <p:cNvPr id="20" name="Изображение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65" y="4307840"/>
            <a:ext cx="1527175" cy="793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7228"/>
            <a:ext cx="3234258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Цель и задачи проекта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75333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Цель:</a:t>
            </a: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Разработать веб-приложение для обмена учебными материалами между студентами, обеспечив удобный поиск, загрузку и обмен с обратной связью.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011784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08237"/>
            <a:ext cx="4013895" cy="14288"/>
          </a:xfrm>
          <a:prstGeom prst="rect">
            <a:avLst/>
          </a:prstGeom>
          <a:solidFill>
            <a:srgbClr val="D3C5B6"/>
          </a:solidFill>
        </p:spPr>
      </p:sp>
      <p:sp>
        <p:nvSpPr>
          <p:cNvPr id="6" name="Text 4"/>
          <p:cNvSpPr/>
          <p:nvPr/>
        </p:nvSpPr>
        <p:spPr>
          <a:xfrm>
            <a:off x="496119" y="2298799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Проектирование БД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567062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Спроектировать структуру для пользователей, материалов, отзывов, оценок и сообщений.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11784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08237"/>
            <a:ext cx="4013895" cy="14288"/>
          </a:xfrm>
          <a:prstGeom prst="rect">
            <a:avLst/>
          </a:prstGeom>
          <a:solidFill>
            <a:srgbClr val="D3C5B6"/>
          </a:solidFill>
        </p:spPr>
      </p:sp>
      <p:sp>
        <p:nvSpPr>
          <p:cNvPr id="10" name="Text 8"/>
          <p:cNvSpPr/>
          <p:nvPr/>
        </p:nvSpPr>
        <p:spPr>
          <a:xfrm>
            <a:off x="4633987" y="2298799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Клиентская часть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567062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Создать адаптивный интерфейс (HTML/CSS/JS) с модалами входа и регистрацией, лентой отзывов в реальном времени.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180978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77431"/>
            <a:ext cx="4013895" cy="14288"/>
          </a:xfrm>
          <a:prstGeom prst="rect">
            <a:avLst/>
          </a:prstGeom>
          <a:solidFill>
            <a:srgbClr val="D3C5B6"/>
          </a:solidFill>
        </p:spPr>
      </p:sp>
      <p:sp>
        <p:nvSpPr>
          <p:cNvPr id="14" name="Text 12"/>
          <p:cNvSpPr/>
          <p:nvPr/>
        </p:nvSpPr>
        <p:spPr>
          <a:xfrm>
            <a:off x="496119" y="346799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Серверная часть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736256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Реализовать REST API на Python Flask, обработку загрузки файлов и админ-панель.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180978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377431"/>
            <a:ext cx="4013895" cy="14288"/>
          </a:xfrm>
          <a:prstGeom prst="rect">
            <a:avLst/>
          </a:prstGeom>
          <a:solidFill>
            <a:srgbClr val="D3C5B6"/>
          </a:solidFill>
        </p:spPr>
      </p:sp>
      <p:sp>
        <p:nvSpPr>
          <p:cNvPr id="18" name="Text 16"/>
          <p:cNvSpPr/>
          <p:nvPr/>
        </p:nvSpPr>
        <p:spPr>
          <a:xfrm>
            <a:off x="4633987" y="3467993"/>
            <a:ext cx="179390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Тестирование и деплой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736256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Провести функциональное и адаптивное тестирование, разместить проект на хостинге.</a:t>
            </a:r>
            <a:endParaRPr lang="en-US" sz="950" dirty="0"/>
          </a:p>
        </p:txBody>
      </p:sp>
      <p:pic>
        <p:nvPicPr>
          <p:cNvPr id="20" name="Изображение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835" y="4248785"/>
            <a:ext cx="1640205" cy="852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8910"/>
            <a:ext cx="3141911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Технологический стек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06822" y="1895029"/>
            <a:ext cx="4103191" cy="1849487"/>
          </a:xfrm>
          <a:prstGeom prst="roundRect">
            <a:avLst>
              <a:gd name="adj" fmla="val 1006"/>
            </a:avLst>
          </a:prstGeom>
          <a:solidFill>
            <a:srgbClr val="D3C5B6"/>
          </a:solidFill>
        </p:spPr>
      </p:sp>
      <p:sp>
        <p:nvSpPr>
          <p:cNvPr id="4" name="Text 2"/>
          <p:cNvSpPr/>
          <p:nvPr/>
        </p:nvSpPr>
        <p:spPr>
          <a:xfrm>
            <a:off x="530796" y="2019002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Backend / DevOps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336825"/>
            <a:ext cx="3855244" cy="13643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3.11 — язык реализации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Flask — микрофреймворк (REST API, маршруты)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SQLite — реляционная база данных для удобства развёртывания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Werkzeug — безопасная обработка загрузок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PythonAnywhere, GitHub — хостинг и контроль версий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019002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336825"/>
            <a:ext cx="3924598" cy="13209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HTML5 — семантическая структура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CSS3 — стилизация; тёмная тема и адаптивность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JavaScript (ES6) — динамика, fetch API для взаимодействия с API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Модули: валидация форм, модальные окна, обновление ленты (AJAX)</a:t>
            </a:r>
            <a:endParaRPr lang="en-US" sz="950" dirty="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4079875"/>
            <a:ext cx="1965960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267593"/>
            <a:ext cx="2879675" cy="2422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Архитектура приложения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50912" y="661243"/>
            <a:ext cx="7642101" cy="2760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Приложение построено по паттерну MVC: модель — данные и доступ к БД; представление — HTML/CSS; контроллер — маршруты Flask и логика API. Это обеспечивает разделение ответственности, упрощает тестирование и поддержку.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0948" y="1022449"/>
            <a:ext cx="5162029" cy="34921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89748" y="2281847"/>
            <a:ext cx="939948" cy="8597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Взаимодействие компонентов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94537" y="3401977"/>
            <a:ext cx="1398341" cy="4298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Flask (REST API)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94537" y="3892966"/>
            <a:ext cx="1398341" cy="30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Обрабатывает запросы и загрузки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17492" y="3509440"/>
            <a:ext cx="1398341" cy="2149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SQLite (БД)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217492" y="3785502"/>
            <a:ext cx="1398341" cy="30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Хранит данные и файлы метаданных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17492" y="1438496"/>
            <a:ext cx="1398341" cy="2149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Ответы клиенту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217492" y="1714558"/>
            <a:ext cx="1398341" cy="30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JSON с результатом и статусом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03492" y="1331032"/>
            <a:ext cx="1398341" cy="4298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Браузер (клиент)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503492" y="1822022"/>
            <a:ext cx="1398341" cy="306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Отправляет JSON и файлы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0912" y="4599756"/>
            <a:ext cx="7642101" cy="2760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Последовательность: пользователь отправляет запрос (GET/POST) → Flask обрабатывает, выполняет операции с SQLite, возвращает JSON → клиент обновляет интерфейс.</a:t>
            </a:r>
            <a:endParaRPr lang="en-US" sz="750" dirty="0"/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270" y="4879975"/>
            <a:ext cx="1461770" cy="220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1629"/>
            <a:ext cx="434429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Функционал для пользователей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91973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4" name="Text 2"/>
          <p:cNvSpPr/>
          <p:nvPr/>
        </p:nvSpPr>
        <p:spPr>
          <a:xfrm>
            <a:off x="899145" y="196237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Регистрация и вход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9145" y="2230636"/>
            <a:ext cx="359531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Создание учётной записи с логином, email и хэшированным паролем; сессии через Flask session.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49465" y="191973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7" name="Text 5"/>
          <p:cNvSpPr/>
          <p:nvPr/>
        </p:nvSpPr>
        <p:spPr>
          <a:xfrm>
            <a:off x="5052492" y="1962373"/>
            <a:ext cx="170207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Работа с материалами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52492" y="2230636"/>
            <a:ext cx="3595390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Добавление материалов с метаданными (название, описание, категория), просмотр ленты, скачивание с учётом счётчика загрузок.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3074045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10" name="Text 8"/>
          <p:cNvSpPr/>
          <p:nvPr/>
        </p:nvSpPr>
        <p:spPr>
          <a:xfrm>
            <a:off x="899145" y="3116684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Отзывы и оценки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9145" y="3384947"/>
            <a:ext cx="359531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Оставление комментариев и оценок (1–5 звёзд), просмотр и сортировка по полезности.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9465" y="3074045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13" name="Text 11"/>
          <p:cNvSpPr/>
          <p:nvPr/>
        </p:nvSpPr>
        <p:spPr>
          <a:xfrm>
            <a:off x="5052492" y="3116684"/>
            <a:ext cx="236540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Обратная связь и оценка сайта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52492" y="3384947"/>
            <a:ext cx="35953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Форма /feedback для сообщений; всплывающая плашка для оценки платформы после добавления материала.</a:t>
            </a:r>
            <a:endParaRPr lang="en-US" sz="950" dirty="0"/>
          </a:p>
        </p:txBody>
      </p:sp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4079875"/>
            <a:ext cx="1965960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2880"/>
            <a:ext cx="4040237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Функционал администратора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220986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Админ-панель доступна по учётным данным (логин: zasimov, пароль: admin123). Панель предоставляет полноценное управление контентом и пользователями.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43472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29185"/>
            <a:ext cx="4013895" cy="57150"/>
          </a:xfrm>
          <a:prstGeom prst="roundRect">
            <a:avLst>
              <a:gd name="adj" fmla="val 32558"/>
            </a:avLst>
          </a:prstGeom>
          <a:solidFill>
            <a:srgbClr val="D3C5B6"/>
          </a:solidFill>
        </p:spPr>
      </p:sp>
      <p:sp>
        <p:nvSpPr>
          <p:cNvPr id="6" name="Shape 4"/>
          <p:cNvSpPr/>
          <p:nvPr/>
        </p:nvSpPr>
        <p:spPr>
          <a:xfrm>
            <a:off x="2317031" y="1757437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D3C5B6"/>
          </a:solidFill>
        </p:spPr>
      </p:sp>
      <p:sp>
        <p:nvSpPr>
          <p:cNvPr id="7" name="Text 5"/>
          <p:cNvSpPr/>
          <p:nvPr/>
        </p:nvSpPr>
        <p:spPr>
          <a:xfrm>
            <a:off x="2428652" y="1850454"/>
            <a:ext cx="148828" cy="186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4380" y="2253555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Пользователи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80" y="2521818"/>
            <a:ext cx="373737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Просмотр списка, контактный email, блокировка/удаление при необходимости.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3987" y="1943472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3987" y="1929185"/>
            <a:ext cx="4013895" cy="57150"/>
          </a:xfrm>
          <a:prstGeom prst="roundRect">
            <a:avLst>
              <a:gd name="adj" fmla="val 32558"/>
            </a:avLst>
          </a:prstGeom>
          <a:solidFill>
            <a:srgbClr val="D3C5B6"/>
          </a:solidFill>
        </p:spPr>
      </p:sp>
      <p:sp>
        <p:nvSpPr>
          <p:cNvPr id="12" name="Shape 10"/>
          <p:cNvSpPr/>
          <p:nvPr/>
        </p:nvSpPr>
        <p:spPr>
          <a:xfrm>
            <a:off x="6454899" y="1757437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D3C5B6"/>
          </a:solidFill>
        </p:spPr>
      </p:sp>
      <p:sp>
        <p:nvSpPr>
          <p:cNvPr id="13" name="Text 11"/>
          <p:cNvSpPr/>
          <p:nvPr/>
        </p:nvSpPr>
        <p:spPr>
          <a:xfrm>
            <a:off x="6566520" y="1850454"/>
            <a:ext cx="148828" cy="186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2248" y="2253555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Материалы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2248" y="2521818"/>
            <a:ext cx="373737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Редактирование метаданных, удаление вместе с файлами, просмотр числа скачиваний.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3367013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119" y="3352726"/>
            <a:ext cx="4013895" cy="57150"/>
          </a:xfrm>
          <a:prstGeom prst="roundRect">
            <a:avLst>
              <a:gd name="adj" fmla="val 32558"/>
            </a:avLst>
          </a:prstGeom>
          <a:solidFill>
            <a:srgbClr val="D3C5B6"/>
          </a:solidFill>
        </p:spPr>
      </p:sp>
      <p:sp>
        <p:nvSpPr>
          <p:cNvPr id="18" name="Shape 16"/>
          <p:cNvSpPr/>
          <p:nvPr/>
        </p:nvSpPr>
        <p:spPr>
          <a:xfrm>
            <a:off x="2317031" y="318097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D3C5B6"/>
          </a:solidFill>
        </p:spPr>
      </p:sp>
      <p:sp>
        <p:nvSpPr>
          <p:cNvPr id="19" name="Text 17"/>
          <p:cNvSpPr/>
          <p:nvPr/>
        </p:nvSpPr>
        <p:spPr>
          <a:xfrm>
            <a:off x="2428652" y="3273996"/>
            <a:ext cx="148828" cy="186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4380" y="3677096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Отзывы и оценки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380" y="3945359"/>
            <a:ext cx="373737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Модерация: удаление неподобающих отзывов и оценок.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87" y="3367013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9F6F0"/>
          </a:solidFill>
          <a:ln w="14288">
            <a:solidFill>
              <a:srgbClr val="D4CE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33987" y="3352726"/>
            <a:ext cx="4013895" cy="57150"/>
          </a:xfrm>
          <a:prstGeom prst="roundRect">
            <a:avLst>
              <a:gd name="adj" fmla="val 32558"/>
            </a:avLst>
          </a:prstGeom>
          <a:solidFill>
            <a:srgbClr val="D3C5B6"/>
          </a:solidFill>
        </p:spPr>
      </p:sp>
      <p:sp>
        <p:nvSpPr>
          <p:cNvPr id="24" name="Shape 22"/>
          <p:cNvSpPr/>
          <p:nvPr/>
        </p:nvSpPr>
        <p:spPr>
          <a:xfrm>
            <a:off x="6454899" y="318097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D3C5B6"/>
          </a:solidFill>
        </p:spPr>
      </p:sp>
      <p:sp>
        <p:nvSpPr>
          <p:cNvPr id="25" name="Text 23"/>
          <p:cNvSpPr/>
          <p:nvPr/>
        </p:nvSpPr>
        <p:spPr>
          <a:xfrm>
            <a:off x="6566520" y="3273996"/>
            <a:ext cx="148828" cy="186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72248" y="3677096"/>
            <a:ext cx="1877764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Сообщения и статистика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2248" y="3945359"/>
            <a:ext cx="373737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Просмотр/удаление сообщений обратной связи; сводная статистика по материалам, пользователям, рейтингам.</a:t>
            </a:r>
            <a:endParaRPr lang="en-US" sz="950" dirty="0"/>
          </a:p>
        </p:txBody>
      </p:sp>
      <p:pic>
        <p:nvPicPr>
          <p:cNvPr id="28" name="Изображение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4632960"/>
            <a:ext cx="1965960" cy="4679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2925"/>
            <a:ext cx="4400550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Структура базы данных (SQLite)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101030"/>
            <a:ext cx="8151763" cy="3499545"/>
          </a:xfrm>
          <a:prstGeom prst="roundRect">
            <a:avLst>
              <a:gd name="adj" fmla="val 5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05793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24855" y="1184970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Таблица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98355" y="1184970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Ключевые поля и назначение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0881" y="1462608"/>
            <a:ext cx="8142238" cy="55527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624855" y="1541785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98355" y="1541785"/>
            <a:ext cx="38207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username (уник.), email (уник.), password (хэш), created_at — учёт пользователей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0881" y="2017886"/>
            <a:ext cx="8142238" cy="55527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4855" y="2097063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materials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98355" y="2097063"/>
            <a:ext cx="38207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title, description, category, author, user_id, file_path, file_name, file_size, downloads, created_at — хранение материалов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0881" y="2573164"/>
            <a:ext cx="8142238" cy="55527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24855" y="2652340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355" y="2652340"/>
            <a:ext cx="38207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material_id, user_id, user_name, rating, comment, created_at — отзывы под материалами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0881" y="3128442"/>
            <a:ext cx="8142238" cy="55527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24855" y="3207618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site_ratings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98355" y="3207618"/>
            <a:ext cx="38207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user_id, user_name, rating, comment, created_at — оценки работы платформы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0881" y="3683719"/>
            <a:ext cx="8142238" cy="55527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24855" y="3762896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98355" y="3762896"/>
            <a:ext cx="3820790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user_name, user_email, message, is_read, created_at — сообщения обратной связи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0881" y="4238997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24855" y="4318174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98355" y="4318174"/>
            <a:ext cx="427799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id, username, password (хэш) — данные администраторов</a:t>
            </a:r>
            <a:endParaRPr lang="en-US" sz="950" dirty="0"/>
          </a:p>
        </p:txBody>
      </p:sp>
      <p:pic>
        <p:nvPicPr>
          <p:cNvPr id="25" name="Изображение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4674870"/>
            <a:ext cx="1965960" cy="426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153"/>
            <a:ext cx="6975797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Демонстрация работы — инструкция для скриншотов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094259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Здесь должны быть размещены скриншоты интерфейса. Рекомендуемые кадры и пояснения для подготовки материалов к защите: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1597" y="1426071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84" y="1512912"/>
            <a:ext cx="155004" cy="123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897335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Главная страница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2165598"/>
            <a:ext cx="399834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Тёмная тема, карточки материалов с метаданными и кнопками скачивания.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64943" y="1426071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30" y="1512912"/>
            <a:ext cx="155004" cy="1239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9465" y="1897335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Форма добавления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49465" y="2165598"/>
            <a:ext cx="3998416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Поля: название, описание, категория, выбор файла; индикатор загрузки и валидация.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11597" y="2804368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84" y="2891210"/>
            <a:ext cx="155004" cy="1239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19" y="327563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Лента отзывов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119" y="3543895"/>
            <a:ext cx="399834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Реальное время: обновление каждые 5 секунд, сортировка по времени и рейтингу.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64943" y="2804368"/>
            <a:ext cx="278978" cy="322436"/>
          </a:xfrm>
          <a:prstGeom prst="roundRect">
            <a:avLst>
              <a:gd name="adj" fmla="val 12291"/>
            </a:avLst>
          </a:prstGeom>
          <a:solidFill>
            <a:srgbClr val="DFDFE0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30" y="2891210"/>
            <a:ext cx="155004" cy="1239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49465" y="3275633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Админ-панель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649465" y="3543895"/>
            <a:ext cx="3998416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Таблицы пользователей, материалов, сообщений и статистика по действиям.</a:t>
            </a:r>
            <a:endParaRPr lang="en-US" sz="950" dirty="0"/>
          </a:p>
        </p:txBody>
      </p:sp>
      <p:pic>
        <p:nvPicPr>
          <p:cNvPr id="23" name="Изображение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080" y="4794885"/>
            <a:ext cx="1965960" cy="306070"/>
          </a:xfrm>
          <a:prstGeom prst="rect">
            <a:avLst/>
          </a:prstGeom>
        </p:spPr>
      </p:pic>
      <p:pic>
        <p:nvPicPr>
          <p:cNvPr id="24" name="Изображение 23" descr="2026-06-03_01-00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25" y="1426210"/>
            <a:ext cx="589915" cy="352425"/>
          </a:xfrm>
          <a:prstGeom prst="rect">
            <a:avLst/>
          </a:prstGeom>
        </p:spPr>
      </p:pic>
      <p:pic>
        <p:nvPicPr>
          <p:cNvPr id="25" name="Изображение 24" descr="2026-06-03_01-01-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25" y="2816225"/>
            <a:ext cx="591185" cy="356235"/>
          </a:xfrm>
          <a:prstGeom prst="rect">
            <a:avLst/>
          </a:prstGeom>
        </p:spPr>
      </p:pic>
      <p:pic>
        <p:nvPicPr>
          <p:cNvPr id="26" name="Изображение 25" descr="2026-06-03_01-03-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495" y="2804160"/>
            <a:ext cx="765810" cy="322580"/>
          </a:xfrm>
          <a:prstGeom prst="rect">
            <a:avLst/>
          </a:prstGeom>
        </p:spPr>
      </p:pic>
      <p:pic>
        <p:nvPicPr>
          <p:cNvPr id="27" name="Изображение 26" descr="2026-06-03_01-02-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710" y="2808605"/>
            <a:ext cx="629285" cy="317500"/>
          </a:xfrm>
          <a:prstGeom prst="rect">
            <a:avLst/>
          </a:prstGeom>
        </p:spPr>
      </p:pic>
      <p:pic>
        <p:nvPicPr>
          <p:cNvPr id="28" name="Изображение 27" descr="2026-06-03_01-03-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395" y="2804160"/>
            <a:ext cx="886460" cy="323215"/>
          </a:xfrm>
          <a:prstGeom prst="rect">
            <a:avLst/>
          </a:prstGeom>
        </p:spPr>
      </p:pic>
      <p:pic>
        <p:nvPicPr>
          <p:cNvPr id="29" name="Изображение 28" descr="2026-06-03_01-08-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5420" y="1337945"/>
            <a:ext cx="935990" cy="410845"/>
          </a:xfrm>
          <a:prstGeom prst="rect">
            <a:avLst/>
          </a:prstGeom>
        </p:spPr>
      </p:pic>
      <p:pic>
        <p:nvPicPr>
          <p:cNvPr id="30" name="Изображение 29" descr="2026-06-03_01-07-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155" y="1338580"/>
            <a:ext cx="946150" cy="410845"/>
          </a:xfrm>
          <a:prstGeom prst="rect">
            <a:avLst/>
          </a:prstGeom>
        </p:spPr>
      </p:pic>
      <p:pic>
        <p:nvPicPr>
          <p:cNvPr id="31" name="Изображение 30" descr="2026-06-03_01-06-5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5185" y="1338580"/>
            <a:ext cx="638810" cy="376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285304"/>
            <a:ext cx="3947666" cy="2422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Тестирование, результаты и выводы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50912" y="678954"/>
            <a:ext cx="8099301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Результаты тестирования (веб-версия, 12 тест-кейсов):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750912" y="902122"/>
            <a:ext cx="7642101" cy="2869704"/>
          </a:xfrm>
          <a:prstGeom prst="roundRect">
            <a:avLst>
              <a:gd name="adj" fmla="val 5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5675" y="906884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852636" y="957039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 Регистрация пользователя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8003" y="957039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55675" y="1145232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852636" y="1195388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 Вход с правильным паролем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08003" y="1195388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55675" y="1383581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52636" y="1433736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 Вход с неправильным паролем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08003" y="1433736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Ошибка (ожидаемо)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55675" y="1621929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852636" y="1672084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4. Добавление материала с файлом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08003" y="1672084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5675" y="1860277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852636" y="1910432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5. Добавление материала без названия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08003" y="1910432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Ошибка (ожидаемо)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5675" y="2098625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852636" y="2148780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6. Скачивание файла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08003" y="2148780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Счётчик +1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5675" y="2336974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852636" y="2387129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7. Оставление отзыва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08003" y="2387129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55675" y="2575322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852636" y="2625477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8. Оценка сайта (плашка)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08003" y="2625477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5675" y="2813670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52636" y="2863825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9. Переключение разделов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08003" y="2863825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55675" y="3052018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852636" y="3102173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10. Закрытие плашки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08003" y="3102173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55675" y="3290367"/>
            <a:ext cx="7632576" cy="23834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52636" y="3340522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11. Вход в админ-панель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08003" y="3340522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55675" y="3528715"/>
            <a:ext cx="7632576" cy="23834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52636" y="3578870"/>
            <a:ext cx="331403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12. Удаление материала через админку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08003" y="3578870"/>
            <a:ext cx="4840560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Пройден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50912" y="3856955"/>
            <a:ext cx="8099301" cy="138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Мобильное тестирование:</a:t>
            </a: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адаптивность (меню) — работает; кнопки и формы — корректны. Все тесты по функционалу пройдены успешно.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50912" y="4104308"/>
            <a:ext cx="7642101" cy="7218"/>
          </a:xfrm>
          <a:prstGeom prst="rect">
            <a:avLst/>
          </a:prstGeom>
          <a:solidFill>
            <a:srgbClr val="746558">
              <a:alpha val="5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750912" y="4220840"/>
            <a:ext cx="7642101" cy="6372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19000"/>
              </a:lnSpc>
              <a:spcAft>
                <a:spcPts val="650"/>
              </a:spcAft>
              <a:buNone/>
            </a:pPr>
            <a:r>
              <a:rPr lang="en-US" sz="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Итоги и рекомендации:</a:t>
            </a: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Проект реализует полноценную платформу обмена учебными материалами: backend на Flask, SQLite, адаптивный frontend, система отзывов, админ-панель и деплой. Рекомендуется провести нагрузочное тестирование при росте числа пользователей, добавить резервное хранение файлов (S3 или аналог) и внедрить дополнительные механизмы модерации контента.</a:t>
            </a:r>
            <a:endParaRPr lang="en-US" sz="7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Благодарю за внимание! Полезные ссылки:  сайт (https://zasimov.pythonanywhere.com</a:t>
            </a:r>
            <a:r>
              <a:rPr lang="ru-RU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</a:t>
            </a:r>
            <a:endParaRPr lang="en-US" altLang="ru-RU" sz="75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19000"/>
              </a:lnSpc>
              <a:buNone/>
            </a:pPr>
            <a:r>
              <a:rPr lang="en-US" altLang="ru-RU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Telegram-</a:t>
            </a:r>
            <a:r>
              <a:rPr lang="en-US" alt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канал(t.me/kkkoookkkiii)</a:t>
            </a:r>
            <a:r>
              <a:rPr lang="ru-RU" altLang="en-US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водить в </a:t>
            </a:r>
            <a:r>
              <a:rPr lang="en-US" altLang="ru-RU" sz="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telegram</a:t>
            </a:r>
            <a:endParaRPr lang="en-US" altLang="ru-RU" sz="75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19000"/>
              </a:lnSpc>
              <a:buNone/>
            </a:pPr>
            <a:endParaRPr lang="en-US" altLang="en-US" sz="75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19000"/>
              </a:lnSpc>
              <a:buNone/>
            </a:pPr>
            <a:endParaRPr lang="ru-RU" sz="75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44" name="Изображение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655820"/>
            <a:ext cx="1264920" cy="445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5905</Words>
  <Application>WPS Presentation</Application>
  <PresentationFormat>On-screen Show (16:9)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Gelasio</vt:lpstr>
      <vt:lpstr>Gelasio</vt:lpstr>
      <vt:lpstr>Gelasio</vt:lpstr>
      <vt:lpstr>Gelasio SemiBold</vt:lpstr>
      <vt:lpstr>Gelasio SemiBold</vt:lpstr>
      <vt:lpstr>Gelasio SemiBold</vt:lpstr>
      <vt:lpstr>Gelasio Light</vt:lpstr>
      <vt:lpstr>Segoe Print</vt:lpstr>
      <vt:lpstr>Gelasio Light</vt:lpstr>
      <vt:lpstr>Gelasio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Светлана Засимо�</cp:lastModifiedBy>
  <cp:revision>4</cp:revision>
  <dcterms:created xsi:type="dcterms:W3CDTF">2026-06-02T17:57:00Z</dcterms:created>
  <dcterms:modified xsi:type="dcterms:W3CDTF">2026-06-02T18:26:56Z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DF446D6D28EC4F3586F9DABAF4BC702E_12</vt:lpwstr>
  </property>
  <property fmtid="{D5CDD505-2E9C-101B-9397-08002B2CF9AE}" pid="3" name="KSOProductBuildVer">
    <vt:lpwstr>1049-12.1.0.26372</vt:lpwstr>
  </property>
</Properties>
</file>